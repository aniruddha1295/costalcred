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11535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4800" b="1">
                <a:solidFill>
                  <a:srgbClr val="FFFFFF"/>
                </a:solidFill>
              </a:defRPr>
            </a:pPr>
            <a:r>
              <a:t>CoastalCred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1091153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2600" b="0">
                <a:solidFill>
                  <a:srgbClr val="FFFFFF"/>
                </a:solidFill>
              </a:defRPr>
            </a:pPr>
            <a:r>
              <a:t>Blockchain-Based Blue Carbon Registry &amp; MRV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91153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1800" b="0">
                <a:solidFill>
                  <a:srgbClr val="D4EAF7"/>
                </a:solidFill>
              </a:defRPr>
            </a:pPr>
            <a:r>
              <a:t>Sem VI Mini Project  |  RCOEM, Dept. of Data Science, Nagpur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911535" cy="93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rPr dirty="0"/>
              <a:t>Team:  Aniruddha Lahoti  |  Ansh </a:t>
            </a:r>
            <a:r>
              <a:rPr dirty="0" err="1"/>
              <a:t>Chopada</a:t>
            </a:r>
            <a:r>
              <a:rPr dirty="0"/>
              <a:t>  |  Tanmay Gaikwad  |  </a:t>
            </a:r>
            <a:r>
              <a:rPr lang="en-US" dirty="0"/>
              <a:t>Atharva </a:t>
            </a:r>
            <a:r>
              <a:rPr lang="en-US" dirty="0" err="1"/>
              <a:t>Nasare</a:t>
            </a:r>
            <a:r>
              <a:rPr lang="en-US" dirty="0"/>
              <a:t> | Anish Hedau</a:t>
            </a:r>
          </a:p>
          <a:p>
            <a:pPr algn="ctr">
              <a:lnSpc>
                <a:spcPct val="1500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1091153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D4EAF7"/>
                </a:solidFill>
              </a:defRPr>
            </a:pPr>
            <a:r>
              <a:t>Guide: Dr. Aarti Karandikar    |    Industry Mentor: Rishikesh Kale (Filecoin / Protocol Labs)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Blue carbon markets lack transparency and verification mechanisms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Mangrove ecosystems sequester </a:t>
            </a:r>
            <a:r>
              <a:rPr sz="2000" b="1">
                <a:solidFill>
                  <a:srgbClr val="0077B6"/>
                </a:solidFill>
              </a:rPr>
              <a:t>3-5x more carbon</a:t>
            </a:r>
            <a:r>
              <a:rPr sz="2000">
                <a:solidFill>
                  <a:srgbClr val="333333"/>
                </a:solidFill>
              </a:rPr>
              <a:t> than terrestrial forests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Current MRV (Monitoring, Reporting, Verification) is </a:t>
            </a:r>
            <a:r>
              <a:rPr sz="2000" b="1">
                <a:solidFill>
                  <a:srgbClr val="0077B6"/>
                </a:solidFill>
              </a:rPr>
              <a:t>manual, expensive, and slow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No standardized, automated system links satellite imagery to carbon credit issuance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Need: An </a:t>
            </a:r>
            <a:r>
              <a:rPr sz="2000" b="1">
                <a:solidFill>
                  <a:srgbClr val="0077B6"/>
                </a:solidFill>
              </a:rPr>
              <a:t>automated, transparent, blockchain-backed</a:t>
            </a:r>
            <a:r>
              <a:rPr sz="2000">
                <a:solidFill>
                  <a:srgbClr val="333333"/>
                </a:solidFill>
              </a:rPr>
              <a:t> carbon credit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Project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Build an </a:t>
            </a:r>
            <a:r>
              <a:rPr sz="2000" b="1">
                <a:solidFill>
                  <a:srgbClr val="0077B6"/>
                </a:solidFill>
              </a:rPr>
              <a:t>ML pipeline</a:t>
            </a:r>
            <a:r>
              <a:rPr sz="2000">
                <a:solidFill>
                  <a:srgbClr val="333333"/>
                </a:solidFill>
              </a:rPr>
              <a:t> for mangrove classification from Sentinel-2 satellite imagery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Compare </a:t>
            </a:r>
            <a:r>
              <a:rPr sz="2000" b="1">
                <a:solidFill>
                  <a:srgbClr val="0077B6"/>
                </a:solidFill>
              </a:rPr>
              <a:t>3 models</a:t>
            </a:r>
            <a:r>
              <a:rPr sz="2000">
                <a:solidFill>
                  <a:srgbClr val="333333"/>
                </a:solidFill>
              </a:rPr>
              <a:t>: NDVI threshold (rules), XGBoost (classical ML), U-Net (deep learning)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Estimate carbon credits using </a:t>
            </a:r>
            <a:r>
              <a:rPr sz="2000" b="1">
                <a:solidFill>
                  <a:srgbClr val="0077B6"/>
                </a:solidFill>
              </a:rPr>
              <a:t>IPCC Tier 1</a:t>
            </a:r>
            <a:r>
              <a:rPr sz="2000">
                <a:solidFill>
                  <a:srgbClr val="333333"/>
                </a:solidFill>
              </a:rPr>
              <a:t> methodology (flux, not stock)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Design a </a:t>
            </a:r>
            <a:r>
              <a:rPr sz="2000" b="1">
                <a:solidFill>
                  <a:srgbClr val="0077B6"/>
                </a:solidFill>
              </a:rPr>
              <a:t>blockchain architecture</a:t>
            </a:r>
            <a:r>
              <a:rPr sz="2000">
                <a:solidFill>
                  <a:srgbClr val="333333"/>
                </a:solidFill>
              </a:rPr>
              <a:t> for transparent, tamper-proof credit issuance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Deliver a </a:t>
            </a:r>
            <a:r>
              <a:rPr sz="2000" b="1">
                <a:solidFill>
                  <a:srgbClr val="0077B6"/>
                </a:solidFill>
              </a:rPr>
              <a:t>Streamlit dashboard</a:t>
            </a:r>
            <a:r>
              <a:rPr sz="2000">
                <a:solidFill>
                  <a:srgbClr val="333333"/>
                </a:solidFill>
              </a:rPr>
              <a:t> for interactive model comparison and carbon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System Architecture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 dirty="0">
                <a:solidFill>
                  <a:srgbClr val="0077B6"/>
                </a:solidFill>
              </a:rPr>
              <a:t>7 Microservices:</a:t>
            </a:r>
            <a:r>
              <a:rPr sz="2000" dirty="0">
                <a:solidFill>
                  <a:srgbClr val="333333"/>
                </a:solidFill>
              </a:rPr>
              <a:t> Auth, Territory, </a:t>
            </a:r>
            <a:r>
              <a:rPr sz="2000" dirty="0" err="1">
                <a:solidFill>
                  <a:srgbClr val="333333"/>
                </a:solidFill>
              </a:rPr>
              <a:t>DataIngestion</a:t>
            </a:r>
            <a:r>
              <a:rPr sz="2000" dirty="0">
                <a:solidFill>
                  <a:srgbClr val="333333"/>
                </a:solidFill>
              </a:rPr>
              <a:t>, Verification, </a:t>
            </a:r>
            <a:r>
              <a:rPr sz="2000" dirty="0" err="1">
                <a:solidFill>
                  <a:srgbClr val="333333"/>
                </a:solidFill>
              </a:rPr>
              <a:t>CreditIssuance</a:t>
            </a:r>
            <a:r>
              <a:rPr sz="2000" dirty="0">
                <a:solidFill>
                  <a:srgbClr val="333333"/>
                </a:solidFill>
              </a:rPr>
              <a:t>, Marketplace, </a:t>
            </a:r>
            <a:r>
              <a:rPr sz="2000" dirty="0" err="1">
                <a:solidFill>
                  <a:srgbClr val="333333"/>
                </a:solidFill>
              </a:rPr>
              <a:t>BlockchainAdapter</a:t>
            </a:r>
            <a:endParaRPr sz="2000" dirty="0">
              <a:solidFill>
                <a:srgbClr val="333333"/>
              </a:solidFill>
            </a:endParaR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 dirty="0">
                <a:solidFill>
                  <a:srgbClr val="0077B6"/>
                </a:solidFill>
              </a:rPr>
              <a:t>Database:</a:t>
            </a:r>
            <a:r>
              <a:rPr sz="2000" dirty="0">
                <a:solidFill>
                  <a:srgbClr val="333333"/>
                </a:solidFill>
              </a:rPr>
              <a:t> PostgreSQL + </a:t>
            </a:r>
            <a:r>
              <a:rPr sz="2000" dirty="0" err="1">
                <a:solidFill>
                  <a:srgbClr val="333333"/>
                </a:solidFill>
              </a:rPr>
              <a:t>PostGIS</a:t>
            </a:r>
            <a:r>
              <a:rPr sz="2000" dirty="0">
                <a:solidFill>
                  <a:srgbClr val="333333"/>
                </a:solidFill>
              </a:rPr>
              <a:t> (23 tables, spatial geometry support)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 dirty="0">
                <a:solidFill>
                  <a:srgbClr val="0077B6"/>
                </a:solidFill>
              </a:rPr>
              <a:t>Blockchain:</a:t>
            </a:r>
            <a:r>
              <a:rPr sz="2000" dirty="0">
                <a:solidFill>
                  <a:srgbClr val="333333"/>
                </a:solidFill>
              </a:rPr>
              <a:t> Polygon Amoy </a:t>
            </a:r>
            <a:r>
              <a:rPr sz="2000" dirty="0" err="1">
                <a:solidFill>
                  <a:srgbClr val="333333"/>
                </a:solidFill>
              </a:rPr>
              <a:t>testnet</a:t>
            </a:r>
            <a:r>
              <a:rPr sz="2000" dirty="0">
                <a:solidFill>
                  <a:srgbClr val="333333"/>
                </a:solidFill>
              </a:rPr>
              <a:t> (ERC-721 </a:t>
            </a:r>
            <a:r>
              <a:rPr sz="2000" dirty="0" err="1">
                <a:solidFill>
                  <a:srgbClr val="333333"/>
                </a:solidFill>
              </a:rPr>
              <a:t>TerritoryNFT</a:t>
            </a:r>
            <a:r>
              <a:rPr sz="2000" dirty="0">
                <a:solidFill>
                  <a:srgbClr val="333333"/>
                </a:solidFill>
              </a:rPr>
              <a:t>, ERC-1155 </a:t>
            </a:r>
            <a:r>
              <a:rPr sz="2000" dirty="0" err="1">
                <a:solidFill>
                  <a:srgbClr val="333333"/>
                </a:solidFill>
              </a:rPr>
              <a:t>CarbonCredit</a:t>
            </a:r>
            <a:r>
              <a:rPr sz="2000" dirty="0">
                <a:solidFill>
                  <a:srgbClr val="333333"/>
                </a:solidFill>
              </a:rPr>
              <a:t>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 dirty="0">
                <a:solidFill>
                  <a:srgbClr val="0077B6"/>
                </a:solidFill>
              </a:rPr>
              <a:t>Storage:</a:t>
            </a:r>
            <a:r>
              <a:rPr sz="2000" dirty="0">
                <a:solidFill>
                  <a:srgbClr val="333333"/>
                </a:solidFill>
              </a:rPr>
              <a:t> IPFS / </a:t>
            </a:r>
            <a:r>
              <a:rPr sz="2000" dirty="0" err="1">
                <a:solidFill>
                  <a:srgbClr val="333333"/>
                </a:solidFill>
              </a:rPr>
              <a:t>Filecoin</a:t>
            </a:r>
            <a:r>
              <a:rPr sz="2000" dirty="0">
                <a:solidFill>
                  <a:srgbClr val="333333"/>
                </a:solidFill>
              </a:rPr>
              <a:t> for provenance documents (design only, Sem VII)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 dirty="0">
                <a:solidFill>
                  <a:srgbClr val="0077B6"/>
                </a:solidFill>
              </a:rPr>
              <a:t>Sem VI approach:</a:t>
            </a:r>
            <a:r>
              <a:rPr sz="2000" dirty="0">
                <a:solidFill>
                  <a:srgbClr val="333333"/>
                </a:solidFill>
              </a:rPr>
              <a:t> Modular monolith (microservices architecture in docs, monolith in code)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 dirty="0">
                <a:solidFill>
                  <a:srgbClr val="0077B6"/>
                </a:solidFill>
              </a:rPr>
              <a:t>API:</a:t>
            </a:r>
            <a:r>
              <a:rPr sz="2000" dirty="0">
                <a:solidFill>
                  <a:srgbClr val="333333"/>
                </a:solidFill>
              </a:rPr>
              <a:t> </a:t>
            </a:r>
            <a:r>
              <a:rPr sz="2000" dirty="0" err="1">
                <a:solidFill>
                  <a:srgbClr val="333333"/>
                </a:solidFill>
              </a:rPr>
              <a:t>OpenAPI</a:t>
            </a:r>
            <a:r>
              <a:rPr sz="2000" dirty="0">
                <a:solidFill>
                  <a:srgbClr val="333333"/>
                </a:solidFill>
              </a:rPr>
              <a:t> spec with 30 endpoints across 7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A  -  Environment &amp;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Python 3.10+</a:t>
            </a:r>
            <a:r>
              <a:rPr sz="2000">
                <a:solidFill>
                  <a:srgbClr val="333333"/>
                </a:solidFill>
              </a:rPr>
              <a:t> with CUDA-enabled GPU (NVIDIA RTX 3050, 4 GB VRAM)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Google Earth Engine</a:t>
            </a:r>
            <a:r>
              <a:rPr sz="2000">
                <a:solidFill>
                  <a:srgbClr val="333333"/>
                </a:solidFill>
              </a:rPr>
              <a:t> authentication (earthengine-api + geemap)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15 key packages:</a:t>
            </a:r>
            <a:r>
              <a:rPr sz="2000">
                <a:solidFill>
                  <a:srgbClr val="333333"/>
                </a:solidFill>
              </a:rPr>
              <a:t> torch, xgboost, rasterio, geopandas, segmentation_models_pytorch, etc.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Docker Compose</a:t>
            </a:r>
            <a:r>
              <a:rPr sz="2000">
                <a:solidFill>
                  <a:srgbClr val="333333"/>
                </a:solidFill>
              </a:rPr>
              <a:t> for PostgreSQL 15 + PostGIS 3.3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GitHub Releases</a:t>
            </a:r>
            <a:r>
              <a:rPr sz="2000">
                <a:solidFill>
                  <a:srgbClr val="333333"/>
                </a:solidFill>
              </a:rPr>
              <a:t> for data sharing (no Git LFS, no Google Drive)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Repo skeleton</a:t>
            </a:r>
            <a:r>
              <a:rPr sz="2000">
                <a:solidFill>
                  <a:srgbClr val="333333"/>
                </a:solidFill>
              </a:rPr>
              <a:t> with CI/CD stub and .gitignore for large artifacts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B  -  Data Acquisition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Source:</a:t>
            </a:r>
            <a:r>
              <a:rPr sz="2000">
                <a:solidFill>
                  <a:srgbClr val="333333"/>
                </a:solidFill>
              </a:rPr>
              <a:t> Sentinel-2 L2A via Google Earth Engine (COPERNICUS/S2_SR_HARMONIZED)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6 spectral bands:</a:t>
            </a:r>
            <a:r>
              <a:rPr sz="2000">
                <a:solidFill>
                  <a:srgbClr val="333333"/>
                </a:solidFill>
              </a:rPr>
              <a:t> B2 (Blue), B3 (Green), B4 (Red), B8 (NIR), B11 (SWIR1), B12 (SWIR2)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3 study sites:</a:t>
            </a:r>
            <a:r>
              <a:rPr sz="2000">
                <a:solidFill>
                  <a:srgbClr val="333333"/>
                </a:solidFill>
              </a:rPr>
              <a:t> Sundarbans (WB), Gulf of Kutch (Gujarat), Pichavaram (TN)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2 time points:</a:t>
            </a:r>
            <a:r>
              <a:rPr sz="2000">
                <a:solidFill>
                  <a:srgbClr val="333333"/>
                </a:solidFill>
              </a:rPr>
              <a:t> 2020 (baseline) and 2024 (current) - measures flux, not stock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Ground truth:</a:t>
            </a:r>
            <a:r>
              <a:rPr sz="2000">
                <a:solidFill>
                  <a:srgbClr val="333333"/>
                </a:solidFill>
              </a:rPr>
              <a:t> Global Mangrove Watch v3 polygons (Bunting et al. 2018)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6 composites</a:t>
            </a:r>
            <a:r>
              <a:rPr sz="2000">
                <a:solidFill>
                  <a:srgbClr val="333333"/>
                </a:solidFill>
              </a:rPr>
              <a:t> fetched as cloud-masked median composites, alignment verified visually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Study Sites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Site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State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Ecosystem Type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Role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Patches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Sundarbans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West Bengal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Delta mangroves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Train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5,815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Gulf of Kutch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Gujarat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Arid coastal mangroves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Train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1,267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Pichavaram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Tamil Nadu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Backwater estuary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Test (unseen)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474720"/>
            <a:ext cx="109115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Site-level split prevents data leakage: no patches from the same forest appear in both train and test sets.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Pichavaram is ecologically distinct (backwater estuary vs. delta/arid) -- honestly tests generalization.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C  -  Data Preparation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GMW polygons rasterized</a:t>
            </a:r>
            <a:r>
              <a:rPr sz="2000">
                <a:solidFill>
                  <a:srgbClr val="333333"/>
                </a:solidFill>
              </a:rPr>
              <a:t> to match Sentinel-2 CRS, resolution (10m), and spatial bounds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256 x 256 patches</a:t>
            </a:r>
            <a:r>
              <a:rPr sz="2000">
                <a:solidFill>
                  <a:srgbClr val="333333"/>
                </a:solidFill>
              </a:rPr>
              <a:t>, stride 128 (50% overlap) -- skip all-zero masks, keep some negatives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Site-level split:</a:t>
            </a:r>
            <a:r>
              <a:rPr sz="2000">
                <a:solidFill>
                  <a:srgbClr val="333333"/>
                </a:solidFill>
              </a:rPr>
              <a:t>  Train = 6,374  |  Val = 708  |  Test = 71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Per-band normalization</a:t>
            </a:r>
            <a:r>
              <a:rPr sz="2000">
                <a:solidFill>
                  <a:srgbClr val="333333"/>
                </a:solidFill>
              </a:rPr>
              <a:t> computed on training data only (no test leakage)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Class imbalance:</a:t>
            </a:r>
            <a:r>
              <a:rPr sz="2000">
                <a:solidFill>
                  <a:srgbClr val="333333"/>
                </a:solidFill>
              </a:rPr>
              <a:t> mangroves are ~2% of pixels; handled via scale_pos_weight / pos_weight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All patches stored as .npy arrays; derived locally, not shared (only raw data in releases)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D  -  NDVI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Formula:</a:t>
            </a:r>
            <a:r>
              <a:rPr sz="2000">
                <a:solidFill>
                  <a:srgbClr val="333333"/>
                </a:solidFill>
              </a:rPr>
              <a:t> NDVI = (B8 - B4) / (B8 + B4 + epsilon)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Threshold search:</a:t>
            </a:r>
            <a:r>
              <a:rPr sz="2000">
                <a:solidFill>
                  <a:srgbClr val="333333"/>
                </a:solidFill>
              </a:rPr>
              <a:t> 0.10 to 0.60 on validation set -- best threshold = </a:t>
            </a:r>
            <a:r>
              <a:rPr sz="2000" b="1">
                <a:solidFill>
                  <a:srgbClr val="0077B6"/>
                </a:solidFill>
              </a:rPr>
              <a:t>0.55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Val metrics:</a:t>
            </a:r>
            <a:r>
              <a:rPr sz="2000">
                <a:solidFill>
                  <a:srgbClr val="333333"/>
                </a:solidFill>
              </a:rPr>
              <a:t>  Precision 0.866  |  Recall 0.627  |  IoU 0.572  |  F1 0.728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Test metrics:</a:t>
            </a:r>
            <a:r>
              <a:rPr sz="2000">
                <a:solidFill>
                  <a:srgbClr val="333333"/>
                </a:solidFill>
              </a:rPr>
              <a:t>  Precision 0.428  |  Recall 0.610  |  IoU 0.336  |  F1 0.503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Training time:</a:t>
            </a:r>
            <a:r>
              <a:rPr sz="2000">
                <a:solidFill>
                  <a:srgbClr val="333333"/>
                </a:solidFill>
              </a:rPr>
              <a:t> 0 seconds (rule-based, no training)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Simple but effective baseline; sets the lower bound for comparison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E  -  XGBoost Pixel Classifier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10 per-pixel features:</a:t>
            </a:r>
            <a:r>
              <a:rPr sz="1800">
                <a:solidFill>
                  <a:srgbClr val="333333"/>
                </a:solidFill>
              </a:rPr>
              <a:t> 6 bands + NDVI, EVI, NDWI, SAVI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scale_pos_weight = 1.47</a:t>
            </a:r>
            <a:r>
              <a:rPr sz="1800">
                <a:solidFill>
                  <a:srgbClr val="333333"/>
                </a:solidFill>
              </a:rPr>
              <a:t> for class imbalance handling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287 trees</a:t>
            </a:r>
            <a:r>
              <a:rPr sz="1800">
                <a:solidFill>
                  <a:srgbClr val="333333"/>
                </a:solidFill>
              </a:rPr>
              <a:t> (early stopping from 300 max)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Top feature:</a:t>
            </a:r>
            <a:r>
              <a:rPr sz="1800">
                <a:solidFill>
                  <a:srgbClr val="333333"/>
                </a:solidFill>
              </a:rPr>
              <a:t> NDVI (45.6% importance), followed by B2 (21.4%)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Val metrics:</a:t>
            </a:r>
            <a:r>
              <a:rPr sz="1800">
                <a:solidFill>
                  <a:srgbClr val="333333"/>
                </a:solidFill>
              </a:rPr>
              <a:t>  Precision 0.693  |  Recall 0.966  |  IoU 0.676  |  F1 0.807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Test metrics:</a:t>
            </a:r>
            <a:r>
              <a:rPr sz="1800">
                <a:solidFill>
                  <a:srgbClr val="333333"/>
                </a:solidFill>
              </a:rPr>
              <a:t>  Precision 0.438  |  Recall 0.580  |  IoU 0.332  |  F1 0.499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Training time:</a:t>
            </a:r>
            <a:r>
              <a:rPr sz="1800">
                <a:solidFill>
                  <a:srgbClr val="333333"/>
                </a:solidFill>
              </a:rPr>
              <a:t> 2.79 seconds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F  -  U-Net Segmentation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Architecture:</a:t>
            </a:r>
            <a:r>
              <a:rPr sz="1800">
                <a:solidFill>
                  <a:srgbClr val="333333"/>
                </a:solidFill>
              </a:rPr>
              <a:t> segmentation_models_pytorch U-Net, ResNet-18 encoder, ImageNet pretrained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Input:</a:t>
            </a:r>
            <a:r>
              <a:rPr sz="1800">
                <a:solidFill>
                  <a:srgbClr val="333333"/>
                </a:solidFill>
              </a:rPr>
              <a:t> 6 channels (spectral bands)  |  </a:t>
            </a:r>
            <a:r>
              <a:rPr sz="1800" b="1">
                <a:solidFill>
                  <a:srgbClr val="0077B6"/>
                </a:solidFill>
              </a:rPr>
              <a:t>Output:</a:t>
            </a:r>
            <a:r>
              <a:rPr sz="1800">
                <a:solidFill>
                  <a:srgbClr val="333333"/>
                </a:solidFill>
              </a:rPr>
              <a:t> 1 class (binary mangrove mask)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Loss:</a:t>
            </a:r>
            <a:r>
              <a:rPr sz="1800">
                <a:solidFill>
                  <a:srgbClr val="333333"/>
                </a:solidFill>
              </a:rPr>
              <a:t> BCEWithLogitsLoss with pos_weight for class imbalance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Mixed precision training</a:t>
            </a:r>
            <a:r>
              <a:rPr sz="1800">
                <a:solidFill>
                  <a:srgbClr val="333333"/>
                </a:solidFill>
              </a:rPr>
              <a:t> (torch.cuda.amp) for 4 GB VRAM constraint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50 epochs</a:t>
            </a:r>
            <a:r>
              <a:rPr sz="1800">
                <a:solidFill>
                  <a:srgbClr val="333333"/>
                </a:solidFill>
              </a:rPr>
              <a:t> trained -- training time: </a:t>
            </a:r>
            <a:r>
              <a:rPr sz="1800" b="1">
                <a:solidFill>
                  <a:srgbClr val="0077B6"/>
                </a:solidFill>
              </a:rPr>
              <a:t>7299s (~2 hrs)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Val metrics:</a:t>
            </a:r>
            <a:r>
              <a:rPr sz="1800">
                <a:solidFill>
                  <a:srgbClr val="333333"/>
                </a:solidFill>
              </a:rPr>
              <a:t>  Precision 0.778  |  Recall 0.984  |  IoU 0.768  |  F1 0.869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Test metrics:</a:t>
            </a:r>
            <a:r>
              <a:rPr sz="1800">
                <a:solidFill>
                  <a:srgbClr val="333333"/>
                </a:solidFill>
              </a:rPr>
              <a:t>  Precision 0.908  |  Recall 0.276  |  IoU 0.268  |  F1 0.423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Three Models  -  Complexity Ladder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NDVI Threshold</a:t>
            </a:r>
            <a:r>
              <a:rPr sz="2000">
                <a:solidFill>
                  <a:srgbClr val="333333"/>
                </a:solidFill>
              </a:rPr>
              <a:t> = Rules-based (zero training, fully interpretable, vegetation index only)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XGBoost</a:t>
            </a:r>
            <a:r>
              <a:rPr sz="2000">
                <a:solidFill>
                  <a:srgbClr val="333333"/>
                </a:solidFill>
              </a:rPr>
              <a:t> = Classical ML (per-pixel features, feature importance, fast training)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U-Net</a:t>
            </a:r>
            <a:r>
              <a:rPr sz="2000">
                <a:solidFill>
                  <a:srgbClr val="333333"/>
                </a:solidFill>
              </a:rPr>
              <a:t> = Deep Learning (spatial context via convolutions, highest val performance)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endParaRPr sz="2000">
              <a:solidFill>
                <a:srgbClr val="333333"/>
              </a:solidFill>
            </a:endParaR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All three models share the </a:t>
            </a:r>
            <a:r>
              <a:rPr sz="2000" b="1">
                <a:solidFill>
                  <a:srgbClr val="0077B6"/>
                </a:solidFill>
              </a:rPr>
              <a:t>same data pipeline</a:t>
            </a:r>
            <a:r>
              <a:rPr sz="2000">
                <a:solidFill>
                  <a:srgbClr val="333333"/>
                </a:solidFill>
              </a:rPr>
              <a:t>, </a:t>
            </a:r>
            <a:r>
              <a:rPr sz="2000" b="1">
                <a:solidFill>
                  <a:srgbClr val="0077B6"/>
                </a:solidFill>
              </a:rPr>
              <a:t>same evaluation code</a:t>
            </a:r>
            <a:r>
              <a:rPr sz="2000">
                <a:solidFill>
                  <a:srgbClr val="333333"/>
                </a:solidFill>
              </a:rPr>
              <a:t>, </a:t>
            </a:r>
            <a:r>
              <a:rPr sz="2000" b="1">
                <a:solidFill>
                  <a:srgbClr val="0077B6"/>
                </a:solidFill>
              </a:rPr>
              <a:t>same metrics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Comparison table is the Phase 2 highlight -- walking up the complexity ladder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>
                <a:solidFill>
                  <a:srgbClr val="333333"/>
                </a:solidFill>
              </a:rPr>
              <a:t>More complex does NOT always mean better on unseen data (key finding)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G  -  Model Comparison (Test Set: Pichavaram)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IoU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Training Time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NDVI Threshold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0.428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0.610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0.336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0.503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 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0.438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0.580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0.332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0.499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2.8 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U-Net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0.908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0.276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0.268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0.423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7,299 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474720"/>
            <a:ext cx="109115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Key insight: NDVI threshold achieves the highest test IoU (0.336) despite being the simplest model.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U-Net has highest precision (0.908) but lowest recall (0.276) on the unseen Pichavaram site.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No plain accuracy reported -- mangroves are ~2% of pixels, so accuracy would be misleading.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Generalization Gap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Val IoU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Test IoU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% Drop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NDVI Threshold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0.572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0.336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0.236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41%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0.676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0.332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0.344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51%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U-Net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0.768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0.268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0.500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65%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474720"/>
            <a:ext cx="109115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More complex models overfit more to training sites.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U-Net: 65% drop in IoU from val to test -- high capacity learns site-specific patterns.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Site-level split prevents false confidence -- random patch split would hide this gap.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Per-Site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371600"/>
          <a:ext cx="1091153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2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23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Train Sites IoU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Train Sites F1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Pichavaram IoU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Pichavaram F1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NDVI Threshold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0.572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0.728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0.336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0.503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0.676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0.807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0.332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0.499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U-Net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0.768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0.869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0.268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333333"/>
                          </a:solidFill>
                        </a:defRPr>
                      </a:pPr>
                      <a:r>
                        <a:t>0.423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474720"/>
            <a:ext cx="1091153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U-Net achieves the best IoU (0.768) on training sites but worst on Pichavaram (0.268).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Pichavaram is ecologically distinct: backwater estuary vs. delta (Sundarbans) and arid coastal (Kutch).</a:t>
            </a:r>
          </a:p>
          <a:p>
            <a:pPr algn="l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333333"/>
                </a:solidFill>
              </a:defRPr>
            </a:pPr>
            <a:r>
              <a:t>This honestly measures how models generalize to genuinely new environments.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G  -  Carbon Credit Estimation (IPCC Tier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IPCC Wetlands Supplement (2013)</a:t>
            </a:r>
            <a:r>
              <a:rPr sz="1800">
                <a:solidFill>
                  <a:srgbClr val="333333"/>
                </a:solidFill>
              </a:rPr>
              <a:t> -- published default constants, not invented numbers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endParaRPr sz="1800">
              <a:solidFill>
                <a:srgbClr val="333333"/>
              </a:solidFill>
            </a:endParaR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Step 1:</a:t>
            </a:r>
            <a:r>
              <a:rPr sz="1800">
                <a:solidFill>
                  <a:srgbClr val="333333"/>
                </a:solidFill>
              </a:rPr>
              <a:t>  Mangrove hectares  x  230 t/ha  (biomass density)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Step 2:</a:t>
            </a:r>
            <a:r>
              <a:rPr sz="1800">
                <a:solidFill>
                  <a:srgbClr val="333333"/>
                </a:solidFill>
              </a:rPr>
              <a:t>  x  0.47  (carbon fraction of biomass)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Step 3:</a:t>
            </a:r>
            <a:r>
              <a:rPr sz="1800">
                <a:solidFill>
                  <a:srgbClr val="333333"/>
                </a:solidFill>
              </a:rPr>
              <a:t>  x  3.667  (CO2:C molecular ratio = 44/12)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Step 4:</a:t>
            </a:r>
            <a:r>
              <a:rPr sz="1800">
                <a:solidFill>
                  <a:srgbClr val="333333"/>
                </a:solidFill>
              </a:rPr>
              <a:t>  = tCO2e stock per time point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endParaRPr sz="1800">
              <a:solidFill>
                <a:srgbClr val="333333"/>
              </a:solidFill>
            </a:endParaR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Flux formula:</a:t>
            </a:r>
            <a:r>
              <a:rPr sz="1800">
                <a:solidFill>
                  <a:srgbClr val="333333"/>
                </a:solidFill>
              </a:rPr>
              <a:t>  (current_ha - baseline_ha)  x  7.0 tCO2e/ha/yr  x  years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Flux measures change</a:t>
            </a:r>
            <a:r>
              <a:rPr sz="1800">
                <a:solidFill>
                  <a:srgbClr val="333333"/>
                </a:solidFill>
              </a:rPr>
              <a:t> (additionality) -- not accumulated existing carbon (stock)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17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Carbon Flux Results (4-Year: 2020 - 2024)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88720"/>
          <a:ext cx="1091153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185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Site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Baseline 2020 (ha)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Current 2024 (ha)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Delta (ha)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Flux (tCO2e)</a:t>
                      </a:r>
                    </a:p>
                  </a:txBody>
                  <a:tcPr anchor="ctr"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Sundarbans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NDVI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1,222,572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1,357,644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+135,072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+3,782,009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Kutch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NDVI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33,745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32,530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-1,215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-34,018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Pichavaram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NDVI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6,619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8,266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+1,646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+46,091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Sundarbans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2,457,280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2,337,288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-119,992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-3,359,774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Kutch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415,415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377,768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-37,647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-1,054,124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Pichavaram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10,271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7,690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-2,581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-72,274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Sundarbans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U-Net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725,736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656,834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-68,903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-1,929,272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Kutch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U-Net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278,263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251,946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-26,317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-736,877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Pichavaram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U-Net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655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490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-165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-4,626</a:t>
                      </a:r>
                    </a:p>
                  </a:txBody>
                  <a:tcPr anchor="ctr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669280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spcAft>
                <a:spcPts val="400"/>
              </a:spcAft>
              <a:defRPr sz="1400" b="0">
                <a:solidFill>
                  <a:srgbClr val="333333"/>
                </a:solidFill>
              </a:defRPr>
            </a:pPr>
            <a:r>
              <a:t>Models disagree on sign and magnitude of change -- important finding. Only NDVI detects positive flux (gain) at Sundarbans and Pichavaram.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18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Streamlit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7 interactive pages</a:t>
            </a:r>
            <a:r>
              <a:rPr sz="1800">
                <a:solidFill>
                  <a:srgbClr val="333333"/>
                </a:solidFill>
              </a:rPr>
              <a:t> for exploring all results: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endParaRPr sz="1800">
              <a:solidFill>
                <a:srgbClr val="333333"/>
              </a:solidFill>
            </a:endParaR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  1. Carbon Prediction -- per-site flux visualization, model comparison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  2. Overview -- project summary, architecture, key metrics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  3. Model Comparison -- side-by-side tables and charts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  4. XGBoost Analysis -- feature importance, threshold analysis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  5. U-Net Predictions -- sample prediction overlays (RGB | GT | Pred)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  6. Data Explorer -- patch statistics, class distributions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>
                <a:solidFill>
                  <a:srgbClr val="333333"/>
                </a:solidFill>
              </a:rPr>
              <a:t>  7. Satellite Imagery -- alignment verification, band composites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endParaRPr sz="1800">
              <a:solidFill>
                <a:srgbClr val="333333"/>
              </a:solidFill>
            </a:endParaRP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Run:</a:t>
            </a:r>
            <a:r>
              <a:rPr sz="1800">
                <a:solidFill>
                  <a:srgbClr val="333333"/>
                </a:solidFill>
              </a:rPr>
              <a:t> streamlit run app.py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19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Phase H  -  Documentation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Phase 1 Report:</a:t>
            </a:r>
            <a:r>
              <a:rPr sz="2000">
                <a:solidFill>
                  <a:srgbClr val="333333"/>
                </a:solidFill>
              </a:rPr>
              <a:t> System architecture, database design (23 tables), smart contract spec, API spec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Phase 2 Report:</a:t>
            </a:r>
            <a:r>
              <a:rPr sz="2000">
                <a:solidFill>
                  <a:srgbClr val="333333"/>
                </a:solidFill>
              </a:rPr>
              <a:t> Data pipeline, 3 ML models, comparison results, carbon estimation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Viva Preparation:</a:t>
            </a:r>
            <a:r>
              <a:rPr sz="2000">
                <a:solidFill>
                  <a:srgbClr val="333333"/>
                </a:solidFill>
              </a:rPr>
              <a:t> 13 Q&amp;A covering all project aspects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OpenAPI Specification:</a:t>
            </a:r>
            <a:r>
              <a:rPr sz="2000">
                <a:solidFill>
                  <a:srgbClr val="333333"/>
                </a:solidFill>
              </a:rPr>
              <a:t> 30 endpoints across 7 services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Database Schema:</a:t>
            </a:r>
            <a:r>
              <a:rPr sz="2000">
                <a:solidFill>
                  <a:srgbClr val="333333"/>
                </a:solidFill>
              </a:rPr>
              <a:t> 23 tables with PostGIS spatial support (sql/schema.sql)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PRD:</a:t>
            </a:r>
            <a:r>
              <a:rPr sz="2000">
                <a:solidFill>
                  <a:srgbClr val="333333"/>
                </a:solidFill>
              </a:rPr>
              <a:t> Full product requirements document (docs/coastalcred-prd.md)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2000" b="1">
                <a:solidFill>
                  <a:srgbClr val="0077B6"/>
                </a:solidFill>
              </a:rPr>
              <a:t>Team Handoff:</a:t>
            </a:r>
            <a:r>
              <a:rPr sz="2000">
                <a:solidFill>
                  <a:srgbClr val="333333"/>
                </a:solidFill>
              </a:rPr>
              <a:t> Setup steps, pipeline status, phase instructions (docs/handoff.md)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20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Key Architectural Decisions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Flux, not stock</a:t>
            </a:r>
            <a:r>
              <a:rPr sz="1800">
                <a:solidFill>
                  <a:srgbClr val="333333"/>
                </a:solidFill>
              </a:rPr>
              <a:t> -- credits represent change over time, mirroring real MRV (Verra, Gold Standard)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Site-level split</a:t>
            </a:r>
            <a:r>
              <a:rPr sz="1800">
                <a:solidFill>
                  <a:srgbClr val="333333"/>
                </a:solidFill>
              </a:rPr>
              <a:t> -- no data leakage; honestly tests generalization to new environments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Three models</a:t>
            </a:r>
            <a:r>
              <a:rPr sz="1800">
                <a:solidFill>
                  <a:srgbClr val="333333"/>
                </a:solidFill>
              </a:rPr>
              <a:t> -- complexity ladder (rules -&gt; classical ML -&gt; deep learning) for fair comparison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No plain accuracy</a:t>
            </a:r>
            <a:r>
              <a:rPr sz="1800">
                <a:solidFill>
                  <a:srgbClr val="333333"/>
                </a:solidFill>
              </a:rPr>
              <a:t> -- IoU as primary metric (2% class imbalance makes accuracy misleading)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XGBoost over Random Forest</a:t>
            </a:r>
            <a:r>
              <a:rPr sz="1800">
                <a:solidFill>
                  <a:srgbClr val="333333"/>
                </a:solidFill>
              </a:rPr>
              <a:t> -- better imbalance handling via scale_pos_weight, 1-2% better IoU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U-Net over DeepLabV3+</a:t>
            </a:r>
            <a:r>
              <a:rPr sz="1800">
                <a:solidFill>
                  <a:srgbClr val="333333"/>
                </a:solidFill>
              </a:rPr>
              <a:t> -- standard RS baseline, fits 4 GB VRAM, defensible at viva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Polygon Amoy, not Mumbai</a:t>
            </a:r>
            <a:r>
              <a:rPr sz="1800">
                <a:solidFill>
                  <a:srgbClr val="333333"/>
                </a:solidFill>
              </a:rPr>
              <a:t> -- Mumbai testnet deprecated April 2024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GMW v3 proxy labels</a:t>
            </a:r>
            <a:r>
              <a:rPr sz="1800">
                <a:solidFill>
                  <a:srgbClr val="333333"/>
                </a:solidFill>
              </a:rPr>
              <a:t> -- not field-verified ground truth; spatial/temporal misalignment possible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Single test site</a:t>
            </a:r>
            <a:r>
              <a:rPr sz="1800">
                <a:solidFill>
                  <a:srgbClr val="333333"/>
                </a:solidFill>
              </a:rPr>
              <a:t> -- only Pichavaram; limited generalization assessment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Class imbalance</a:t>
            </a:r>
            <a:r>
              <a:rPr sz="1800">
                <a:solidFill>
                  <a:srgbClr val="333333"/>
                </a:solidFill>
              </a:rPr>
              <a:t> -- mangroves are ~2% of pixels; even with weighting, recall is challenging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IPCC Tier 1 constants</a:t>
            </a:r>
            <a:r>
              <a:rPr sz="1800">
                <a:solidFill>
                  <a:srgbClr val="333333"/>
                </a:solidFill>
              </a:rPr>
              <a:t> -- global defaults (230 t/ha); not calibrated to specific Indian sites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Only 2 time points</a:t>
            </a:r>
            <a:r>
              <a:rPr sz="1800">
                <a:solidFill>
                  <a:srgbClr val="333333"/>
                </a:solidFill>
              </a:rPr>
              <a:t> -- 2020 and 2024; no continuous temporal monitoring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4 GB VRAM constraint</a:t>
            </a:r>
            <a:r>
              <a:rPr sz="1800">
                <a:solidFill>
                  <a:srgbClr val="333333"/>
                </a:solidFill>
              </a:rPr>
              <a:t> -- limits batch size, model capacity, and augmentation options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No additionality verification</a:t>
            </a:r>
            <a:r>
              <a:rPr sz="1800">
                <a:solidFill>
                  <a:srgbClr val="333333"/>
                </a:solidFill>
              </a:rPr>
              <a:t> -- ML alone cannot prove human-caused change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Future Work  -  Sem VII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911535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Deploy microservices</a:t>
            </a:r>
            <a:r>
              <a:rPr sz="1800">
                <a:solidFill>
                  <a:srgbClr val="333333"/>
                </a:solidFill>
              </a:rPr>
              <a:t> architecture (7 services, Docker orchestration)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Smart contract deployment</a:t>
            </a:r>
            <a:r>
              <a:rPr sz="1800">
                <a:solidFill>
                  <a:srgbClr val="333333"/>
                </a:solidFill>
              </a:rPr>
              <a:t> on Polygon Amoy (ERC-721 + ERC-1155)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Community portal + mobile app</a:t>
            </a:r>
            <a:r>
              <a:rPr sz="1800">
                <a:solidFill>
                  <a:srgbClr val="333333"/>
                </a:solidFill>
              </a:rPr>
              <a:t> for field verification and provenance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IPFS / Filecoin</a:t>
            </a:r>
            <a:r>
              <a:rPr sz="1800">
                <a:solidFill>
                  <a:srgbClr val="333333"/>
                </a:solidFill>
              </a:rPr>
              <a:t> for tamper-proof document storage (mentor consultation)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Temporal analysis</a:t>
            </a:r>
            <a:r>
              <a:rPr sz="1800">
                <a:solidFill>
                  <a:srgbClr val="333333"/>
                </a:solidFill>
              </a:rPr>
              <a:t> with more satellite dates (quarterly composites)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Improved U-Net</a:t>
            </a:r>
            <a:r>
              <a:rPr sz="1800">
                <a:solidFill>
                  <a:srgbClr val="333333"/>
                </a:solidFill>
              </a:rPr>
              <a:t> -- data augmentation, multi-scale features, larger training set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Site-specific IPCC constants</a:t>
            </a:r>
            <a:r>
              <a:rPr sz="1800">
                <a:solidFill>
                  <a:srgbClr val="333333"/>
                </a:solidFill>
              </a:rPr>
              <a:t> calibrated to Indian mangrove ecosystems</a:t>
            </a:r>
          </a:p>
          <a:p>
            <a:pPr>
              <a:lnSpc>
                <a:spcPct val="140000"/>
              </a:lnSpc>
              <a:spcBef>
                <a:spcPts val="600"/>
              </a:spcBef>
              <a:spcAft>
                <a:spcPts val="400"/>
              </a:spcAft>
            </a:pPr>
            <a:r>
              <a:rPr sz="1800" b="1">
                <a:solidFill>
                  <a:srgbClr val="0077B6"/>
                </a:solidFill>
              </a:rPr>
              <a:t>Aadhaar / UPI integration</a:t>
            </a:r>
            <a:r>
              <a:rPr sz="1800">
                <a:solidFill>
                  <a:srgbClr val="333333"/>
                </a:solidFill>
              </a:rPr>
              <a:t> for community stakeholder verification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1460175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333333"/>
                </a:solidFill>
              </a:defRPr>
            </a:pPr>
            <a:r>
              <a:t>23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7315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1153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11535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Aniruddha Lahoti  --  Data Pipeline &amp; Infra Lead</a:t>
            </a:r>
          </a:p>
          <a:p>
            <a:pPr algn="ctr">
              <a:lnSpc>
                <a:spcPct val="1600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Ansh Chopada  --  Architecture &amp; Documentation Lead</a:t>
            </a:r>
          </a:p>
          <a:p>
            <a:pPr algn="ctr">
              <a:lnSpc>
                <a:spcPct val="1600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Tanmay Gaikwad  --  Deep Learning Lead</a:t>
            </a:r>
          </a:p>
          <a:p>
            <a:pPr algn="ctr">
              <a:lnSpc>
                <a:spcPct val="160000"/>
              </a:lnSpc>
              <a:spcAft>
                <a:spcPts val="400"/>
              </a:spcAft>
              <a:defRPr sz="1800" b="0">
                <a:solidFill>
                  <a:srgbClr val="FFFFFF"/>
                </a:solidFill>
              </a:defRPr>
            </a:pPr>
            <a:r>
              <a:t>Sanika Bonde  --  Classical ML, Evaluation &amp; Carbon Lead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46320"/>
            <a:ext cx="1091153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1600" b="0">
                <a:solidFill>
                  <a:srgbClr val="D4EAF7"/>
                </a:solidFill>
              </a:defRPr>
            </a:pPr>
            <a:r>
              <a:t>Guide: Dr. Aarti Karandikar    |    Mentor: Rishikesh Kale (Filecoin / Protocol Labs)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9115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400"/>
              </a:spcAft>
              <a:defRPr sz="28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2074</Words>
  <Application>Microsoft Office PowerPoint</Application>
  <PresentationFormat>Widescreen</PresentationFormat>
  <Paragraphs>322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Tanmay Gaikwad</cp:lastModifiedBy>
  <cp:revision>2</cp:revision>
  <dcterms:created xsi:type="dcterms:W3CDTF">2013-01-27T09:14:16Z</dcterms:created>
  <dcterms:modified xsi:type="dcterms:W3CDTF">2026-04-10T02:41:29Z</dcterms:modified>
  <cp:category/>
</cp:coreProperties>
</file>